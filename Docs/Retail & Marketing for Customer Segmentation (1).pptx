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1" r:id="rId4"/>
    <p:sldId id="262" r:id="rId5"/>
    <p:sldId id="260" r:id="rId6"/>
    <p:sldId id="263" r:id="rId7"/>
    <p:sldId id="264" r:id="rId8"/>
    <p:sldId id="274" r:id="rId9"/>
    <p:sldId id="266" r:id="rId10"/>
    <p:sldId id="267" r:id="rId11"/>
    <p:sldId id="268" r:id="rId12"/>
    <p:sldId id="271" r:id="rId13"/>
    <p:sldId id="272" r:id="rId14"/>
    <p:sldId id="273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558E7-9BD8-4AF9-9EE4-7AF7401CB10C}" type="datetimeFigureOut">
              <a:rPr lang="en-PK" smtClean="0"/>
              <a:t>15/03/2026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21CF102A-9D7A-4D18-892E-6B4BB92D276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47936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558E7-9BD8-4AF9-9EE4-7AF7401CB10C}" type="datetimeFigureOut">
              <a:rPr lang="en-PK" smtClean="0"/>
              <a:t>15/03/2026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F102A-9D7A-4D18-892E-6B4BB92D276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80908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184558E7-9BD8-4AF9-9EE4-7AF7401CB10C}" type="datetimeFigureOut">
              <a:rPr lang="en-PK" smtClean="0"/>
              <a:t>15/03/2026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PK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21CF102A-9D7A-4D18-892E-6B4BB92D276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50562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558E7-9BD8-4AF9-9EE4-7AF7401CB10C}" type="datetimeFigureOut">
              <a:rPr lang="en-PK" smtClean="0"/>
              <a:t>15/03/2026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F102A-9D7A-4D18-892E-6B4BB92D276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59020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558E7-9BD8-4AF9-9EE4-7AF7401CB10C}" type="datetimeFigureOut">
              <a:rPr lang="en-PK" smtClean="0"/>
              <a:t>15/03/2026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F102A-9D7A-4D18-892E-6B4BB92D276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95284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558E7-9BD8-4AF9-9EE4-7AF7401CB10C}" type="datetimeFigureOut">
              <a:rPr lang="en-PK" smtClean="0"/>
              <a:t>15/03/2026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F102A-9D7A-4D18-892E-6B4BB92D276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67659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558E7-9BD8-4AF9-9EE4-7AF7401CB10C}" type="datetimeFigureOut">
              <a:rPr lang="en-PK" smtClean="0"/>
              <a:t>15/03/2026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F102A-9D7A-4D18-892E-6B4BB92D276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4523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558E7-9BD8-4AF9-9EE4-7AF7401CB10C}" type="datetimeFigureOut">
              <a:rPr lang="en-PK" smtClean="0"/>
              <a:t>15/03/2026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F102A-9D7A-4D18-892E-6B4BB92D276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39951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558E7-9BD8-4AF9-9EE4-7AF7401CB10C}" type="datetimeFigureOut">
              <a:rPr lang="en-PK" smtClean="0"/>
              <a:t>15/03/2026</a:t>
            </a:fld>
            <a:endParaRPr lang="en-PK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F102A-9D7A-4D18-892E-6B4BB92D276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66816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558E7-9BD8-4AF9-9EE4-7AF7401CB10C}" type="datetimeFigureOut">
              <a:rPr lang="en-PK" smtClean="0"/>
              <a:t>15/03/2026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F102A-9D7A-4D18-892E-6B4BB92D276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17306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558E7-9BD8-4AF9-9EE4-7AF7401CB10C}" type="datetimeFigureOut">
              <a:rPr lang="en-PK" smtClean="0"/>
              <a:t>15/03/2026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F102A-9D7A-4D18-892E-6B4BB92D276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72023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184558E7-9BD8-4AF9-9EE4-7AF7401CB10C}" type="datetimeFigureOut">
              <a:rPr lang="en-PK" smtClean="0"/>
              <a:t>15/03/2026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PK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21CF102A-9D7A-4D18-892E-6B4BB92D276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39663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A4DA1-0892-BDB3-3931-12B3A3025F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00320" y="1284923"/>
            <a:ext cx="6045200" cy="2387600"/>
          </a:xfrm>
        </p:spPr>
        <p:txBody>
          <a:bodyPr>
            <a:normAutofit fontScale="90000"/>
          </a:bodyPr>
          <a:lstStyle/>
          <a:p>
            <a:r>
              <a:rPr lang="en-GB" dirty="0"/>
              <a:t>Retail &amp; Marketing for Customer Segmentation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74644-52C0-8D69-3D02-C3D5982419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00320" y="4745196"/>
            <a:ext cx="4226560" cy="1655762"/>
          </a:xfrm>
        </p:spPr>
        <p:txBody>
          <a:bodyPr/>
          <a:lstStyle/>
          <a:p>
            <a:r>
              <a:rPr lang="en-GB" dirty="0">
                <a:latin typeface="Aptos Display" panose="020B0004020202020204" pitchFamily="34" charset="0"/>
              </a:rPr>
              <a:t>Data Analysis - Report</a:t>
            </a:r>
          </a:p>
          <a:p>
            <a:r>
              <a:rPr lang="en-GB" dirty="0">
                <a:latin typeface="Aptos Display" panose="020B0004020202020204" pitchFamily="34" charset="0"/>
              </a:rPr>
              <a:t>Samia Nadeem</a:t>
            </a:r>
            <a:endParaRPr lang="en-PK" dirty="0">
              <a:latin typeface="Aptos Display" panose="020B0004020202020204" pitchFamily="34" charset="0"/>
            </a:endParaRPr>
          </a:p>
        </p:txBody>
      </p:sp>
      <p:pic>
        <p:nvPicPr>
          <p:cNvPr id="15" name="Picture 14" descr="A person in a black dress&#10;&#10;AI-generated content may be incorrect.">
            <a:extLst>
              <a:ext uri="{FF2B5EF4-FFF2-40B4-BE49-F238E27FC236}">
                <a16:creationId xmlns:a16="http://schemas.microsoft.com/office/drawing/2014/main" id="{FA9EE5B2-DB37-C6DA-44C1-0E5B6E8E20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66"/>
          <a:stretch/>
        </p:blipFill>
        <p:spPr>
          <a:xfrm>
            <a:off x="0" y="-1"/>
            <a:ext cx="4582160" cy="6844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836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11480-B009-8FF9-0A3B-3410DF7D5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40" y="751205"/>
            <a:ext cx="10515600" cy="671195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Business Problem</a:t>
            </a:r>
            <a:br>
              <a:rPr lang="en-GB" b="1" dirty="0"/>
            </a:br>
            <a:endParaRPr lang="en-P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4AA31-E247-E6E9-F85F-B6079E95E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0640"/>
            <a:ext cx="10515600" cy="486632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2400" b="0" i="0" dirty="0">
                <a:effectLst/>
                <a:latin typeface="Aptos Narrow" panose="020B0004020202020204" pitchFamily="34" charset="0"/>
              </a:rPr>
              <a:t>The European Fashion Store is a growing online fashion retailer operating across multiple European markets, but it currently lacks a clear, data‑driven understanding of its </a:t>
            </a:r>
            <a:r>
              <a:rPr lang="en-GB" sz="2400" b="0" i="0" dirty="0">
                <a:effectLst/>
                <a:highlight>
                  <a:srgbClr val="C0C0C0"/>
                </a:highlight>
                <a:latin typeface="Aptos Narrow" panose="020B0004020202020204" pitchFamily="34" charset="0"/>
              </a:rPr>
              <a:t>customers, sales performance, and marketing effectiveness</a:t>
            </a:r>
            <a:r>
              <a:rPr lang="en-GB" sz="2400" b="0" i="0" dirty="0">
                <a:effectLst/>
                <a:latin typeface="Aptos Narrow" panose="020B0004020202020204" pitchFamily="34" charset="0"/>
              </a:rPr>
              <a:t>. Despite steady website traffic and a broad product catalog, management has observed </a:t>
            </a:r>
            <a:r>
              <a:rPr lang="en-GB" sz="2400" b="0" i="0" dirty="0">
                <a:effectLst/>
                <a:highlight>
                  <a:srgbClr val="C0C0C0"/>
                </a:highlight>
                <a:latin typeface="Aptos Narrow" panose="020B0004020202020204" pitchFamily="34" charset="0"/>
              </a:rPr>
              <a:t>inconsistent revenue growth</a:t>
            </a:r>
            <a:r>
              <a:rPr lang="en-GB" sz="2400" b="0" i="0" dirty="0">
                <a:effectLst/>
                <a:latin typeface="Aptos Narrow" panose="020B0004020202020204" pitchFamily="34" charset="0"/>
              </a:rPr>
              <a:t>, </a:t>
            </a:r>
            <a:r>
              <a:rPr lang="en-GB" sz="2400" b="0" i="0" dirty="0">
                <a:effectLst/>
                <a:highlight>
                  <a:srgbClr val="C0C0C0"/>
                </a:highlight>
                <a:latin typeface="Aptos Narrow" panose="020B0004020202020204" pitchFamily="34" charset="0"/>
              </a:rPr>
              <a:t>fluctuating repeat purchase behaviour, and uncertainty about which customer segments and products truly drive long‑term value.</a:t>
            </a:r>
          </a:p>
          <a:p>
            <a:pPr marL="0" indent="0" algn="just">
              <a:buNone/>
            </a:pPr>
            <a:endParaRPr lang="en-GB" sz="2400" b="0" i="0" dirty="0">
              <a:effectLst/>
              <a:latin typeface="Aptos Narrow" panose="020B0004020202020204" pitchFamily="34" charset="0"/>
            </a:endParaRPr>
          </a:p>
          <a:p>
            <a:pPr marL="0" indent="0" algn="just">
              <a:buNone/>
            </a:pPr>
            <a:r>
              <a:rPr lang="en-GB" sz="2400" b="0" i="0" dirty="0">
                <a:effectLst/>
                <a:latin typeface="Aptos Narrow" panose="020B0004020202020204" pitchFamily="34" charset="0"/>
              </a:rPr>
              <a:t>At the same time, marketing spend on digital campaigns and promotions has increased, yet it is unclear </a:t>
            </a:r>
            <a:r>
              <a:rPr lang="en-GB" sz="2400" b="0" i="0" dirty="0">
                <a:effectLst/>
                <a:highlight>
                  <a:srgbClr val="C0C0C0"/>
                </a:highlight>
                <a:latin typeface="Aptos Narrow" panose="020B0004020202020204" pitchFamily="34" charset="0"/>
              </a:rPr>
              <a:t>which channels, campaigns, or customer groups generate the highest return on investment</a:t>
            </a:r>
            <a:r>
              <a:rPr lang="en-GB" sz="2400" b="0" i="0" dirty="0">
                <a:effectLst/>
                <a:latin typeface="Aptos Narrow" panose="020B0004020202020204" pitchFamily="34" charset="0"/>
              </a:rPr>
              <a:t>, and </a:t>
            </a:r>
            <a:r>
              <a:rPr lang="en-GB" sz="2400" b="0" i="0" dirty="0">
                <a:effectLst/>
                <a:highlight>
                  <a:srgbClr val="C0C0C0"/>
                </a:highlight>
                <a:latin typeface="Aptos Narrow" panose="020B0004020202020204" pitchFamily="34" charset="0"/>
              </a:rPr>
              <a:t>where in the purchase journey potential customers are dropping off</a:t>
            </a:r>
            <a:r>
              <a:rPr lang="en-GB" sz="2400" b="0" i="0" dirty="0">
                <a:effectLst/>
                <a:latin typeface="Aptos Narrow" panose="020B0004020202020204" pitchFamily="34" charset="0"/>
              </a:rPr>
              <a:t>. Without a unified view that connects transactions, customers, and basic marketing behaviour, the business cannot confidently design targeted offers, prioritize high‑value segments, or define a focused growth strategy.</a:t>
            </a:r>
          </a:p>
          <a:p>
            <a:pPr marL="0" indent="0" algn="just">
              <a:buNone/>
            </a:pPr>
            <a:endParaRPr lang="en-PK" sz="2400" dirty="0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205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B42E7-2556-D683-1D2A-1171E5861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9560"/>
            <a:ext cx="6711696" cy="5020056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spcBef>
                <a:spcPts val="1000"/>
              </a:spcBef>
            </a:pPr>
            <a:r>
              <a:rPr lang="en-GB" sz="3200" dirty="0">
                <a:solidFill>
                  <a:schemeClr val="accent1">
                    <a:lumMod val="75000"/>
                  </a:schemeClr>
                </a:solidFill>
                <a:latin typeface="Aptos Narrow" panose="020B0004020202020204" pitchFamily="34" charset="0"/>
              </a:rPr>
              <a:t>Revenue growth unstable.</a:t>
            </a:r>
          </a:p>
          <a:p>
            <a:pPr algn="just">
              <a:lnSpc>
                <a:spcPct val="100000"/>
              </a:lnSpc>
              <a:spcBef>
                <a:spcPts val="1000"/>
              </a:spcBef>
            </a:pPr>
            <a:r>
              <a:rPr lang="en-GB" sz="3200" dirty="0">
                <a:solidFill>
                  <a:schemeClr val="accent1">
                    <a:lumMod val="75000"/>
                  </a:schemeClr>
                </a:solidFill>
                <a:latin typeface="Aptos Narrow" panose="020B0004020202020204" pitchFamily="34" charset="0"/>
              </a:rPr>
              <a:t>Repeat customers aren’t clear.</a:t>
            </a:r>
          </a:p>
          <a:p>
            <a:pPr algn="just">
              <a:lnSpc>
                <a:spcPct val="100000"/>
              </a:lnSpc>
              <a:spcBef>
                <a:spcPts val="1000"/>
              </a:spcBef>
            </a:pPr>
            <a:r>
              <a:rPr lang="en-GB" sz="3200" dirty="0">
                <a:solidFill>
                  <a:schemeClr val="accent1">
                    <a:lumMod val="75000"/>
                  </a:schemeClr>
                </a:solidFill>
                <a:latin typeface="Aptos Narrow" panose="020B0004020202020204" pitchFamily="34" charset="0"/>
              </a:rPr>
              <a:t>Marketing spends ROI unclear.</a:t>
            </a:r>
          </a:p>
          <a:p>
            <a:pPr algn="just">
              <a:lnSpc>
                <a:spcPct val="100000"/>
              </a:lnSpc>
              <a:spcBef>
                <a:spcPts val="1000"/>
              </a:spcBef>
            </a:pPr>
            <a:endParaRPr lang="en-GB" sz="3200" dirty="0">
              <a:solidFill>
                <a:schemeClr val="accent1">
                  <a:lumMod val="75000"/>
                </a:schemeClr>
              </a:solidFill>
              <a:latin typeface="Aptos Narrow" panose="020B0004020202020204" pitchFamily="34" charset="0"/>
            </a:endParaRPr>
          </a:p>
          <a:p>
            <a:pPr algn="just">
              <a:lnSpc>
                <a:spcPct val="100000"/>
              </a:lnSpc>
              <a:spcBef>
                <a:spcPts val="1000"/>
              </a:spcBef>
            </a:pPr>
            <a:endParaRPr lang="en-PK" sz="3200" dirty="0">
              <a:solidFill>
                <a:schemeClr val="accent1">
                  <a:lumMod val="75000"/>
                </a:schemeClr>
              </a:solidFill>
              <a:latin typeface="Aptos Narrow" panose="020B00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44FB5C3-CFE1-6BD6-999E-99129CF63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8040"/>
            <a:ext cx="5166360" cy="537464"/>
          </a:xfrm>
        </p:spPr>
        <p:txBody>
          <a:bodyPr>
            <a:noAutofit/>
          </a:bodyPr>
          <a:lstStyle/>
          <a:p>
            <a:r>
              <a:rPr lang="en-GB" sz="5400" b="1" dirty="0"/>
              <a:t>Problems</a:t>
            </a:r>
            <a:endParaRPr lang="en-PK" sz="5400" b="1" dirty="0"/>
          </a:p>
        </p:txBody>
      </p:sp>
    </p:spTree>
    <p:extLst>
      <p:ext uri="{BB962C8B-B14F-4D97-AF65-F5344CB8AC3E}">
        <p14:creationId xmlns:p14="http://schemas.microsoft.com/office/powerpoint/2010/main" val="823926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1AC20-F6F2-8168-926A-C64DF00A7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54152"/>
            <a:ext cx="10058400" cy="1158113"/>
          </a:xfrm>
        </p:spPr>
        <p:txBody>
          <a:bodyPr>
            <a:normAutofit/>
          </a:bodyPr>
          <a:lstStyle/>
          <a:p>
            <a:r>
              <a:rPr lang="en-GB" b="1" dirty="0"/>
              <a:t>Goals</a:t>
            </a:r>
            <a:endParaRPr lang="en-PK" sz="6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66162-F86E-91DE-E1A9-CBF85B7BB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040" y="1805305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514350" indent="-514350" algn="l">
              <a:buFont typeface="+mj-lt"/>
              <a:buAutoNum type="arabicPeriod"/>
            </a:pPr>
            <a:r>
              <a:rPr lang="en-GB" sz="3200" b="1" i="0" dirty="0">
                <a:effectLst/>
                <a:latin typeface="Aptos Narrow" panose="020B0004020202020204" pitchFamily="34" charset="0"/>
              </a:rPr>
              <a:t>Achieve steady revenue growth</a:t>
            </a:r>
          </a:p>
          <a:p>
            <a:pPr lvl="1" indent="0">
              <a:buNone/>
            </a:pPr>
            <a:r>
              <a:rPr lang="en-GB" sz="2800" dirty="0">
                <a:solidFill>
                  <a:schemeClr val="accent1">
                    <a:lumMod val="75000"/>
                  </a:schemeClr>
                </a:solidFill>
                <a:latin typeface="Aptos Narrow" panose="020B0004020202020204" pitchFamily="34" charset="0"/>
              </a:rPr>
              <a:t>Increase online sales consistently over time by improving monthly revenue and revenue growth percentage.</a:t>
            </a:r>
          </a:p>
          <a:p>
            <a:pPr marL="457200" lvl="1" indent="0" algn="l">
              <a:buNone/>
            </a:pPr>
            <a:endParaRPr lang="en-GB" sz="2800" b="0" i="0" dirty="0">
              <a:effectLst/>
              <a:latin typeface="Aptos Narrow" panose="020B0004020202020204" pitchFamily="34" charset="0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en-GB" sz="3200" b="1" i="0" dirty="0">
                <a:effectLst/>
                <a:latin typeface="Aptos Narrow" panose="020B0004020202020204" pitchFamily="34" charset="0"/>
              </a:rPr>
              <a:t>Build strong customer loyalty</a:t>
            </a:r>
          </a:p>
          <a:p>
            <a:pPr lvl="1" indent="0">
              <a:buNone/>
            </a:pPr>
            <a:r>
              <a:rPr lang="en-GB" sz="2800" dirty="0">
                <a:solidFill>
                  <a:schemeClr val="accent1">
                    <a:lumMod val="75000"/>
                  </a:schemeClr>
                </a:solidFill>
                <a:latin typeface="Aptos Narrow" panose="020B0004020202020204" pitchFamily="34" charset="0"/>
              </a:rPr>
              <a:t>Bring customers back more often by increasing repeat purchase rate, retention rate, and customer lifetime value.</a:t>
            </a:r>
          </a:p>
          <a:p>
            <a:pPr marL="457200" lvl="1" indent="0" algn="l">
              <a:buNone/>
            </a:pPr>
            <a:endParaRPr lang="en-GB" sz="2800" b="0" i="0" dirty="0">
              <a:effectLst/>
              <a:latin typeface="Aptos Narrow" panose="020B0004020202020204" pitchFamily="34" charset="0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en-GB" sz="3200" b="1" i="0" dirty="0">
                <a:effectLst/>
                <a:latin typeface="Aptos Narrow" panose="020B0004020202020204" pitchFamily="34" charset="0"/>
              </a:rPr>
              <a:t>Make marketing spend more efficient</a:t>
            </a:r>
          </a:p>
          <a:p>
            <a:pPr marL="457200" lvl="1" indent="0" algn="l">
              <a:buNone/>
            </a:pPr>
            <a:r>
              <a:rPr lang="en-GB" sz="2800" dirty="0">
                <a:solidFill>
                  <a:schemeClr val="accent1">
                    <a:lumMod val="75000"/>
                  </a:schemeClr>
                </a:solidFill>
                <a:latin typeface="Aptos Narrow" panose="020B0004020202020204" pitchFamily="34" charset="0"/>
              </a:rPr>
              <a:t>Optimize digital marketing channels and campaigns so that ROAS increases, CAC decreases, and budget is focused on the most profitable channels</a:t>
            </a:r>
            <a:r>
              <a:rPr lang="en-GB" sz="2800" b="0" i="0" dirty="0">
                <a:effectLst/>
                <a:latin typeface="Aptos Narrow" panose="020B0004020202020204" pitchFamily="34" charset="0"/>
              </a:rPr>
              <a:t>.</a:t>
            </a:r>
          </a:p>
          <a:p>
            <a:endParaRPr lang="en-PK" sz="3200" dirty="0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3662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7F979-FE01-7E91-9D6C-5C9925FD8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KPI’S (</a:t>
            </a:r>
            <a:r>
              <a:rPr lang="en-US" b="1" dirty="0"/>
              <a:t>Key Performance Indicators </a:t>
            </a:r>
            <a:r>
              <a:rPr lang="en-GB" b="1" dirty="0"/>
              <a:t>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9931F-A7DA-58BC-AFB6-D1F5204752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355088"/>
            <a:ext cx="10058400" cy="4050792"/>
          </a:xfrm>
        </p:spPr>
        <p:txBody>
          <a:bodyPr>
            <a:normAutofit/>
          </a:bodyPr>
          <a:lstStyle/>
          <a:p>
            <a:pPr marL="285750" indent="-285750">
              <a:buFont typeface="+mj-lt"/>
              <a:buAutoNum type="arabicPeriod"/>
            </a:pPr>
            <a:r>
              <a:rPr lang="en-GB" sz="2800" dirty="0">
                <a:latin typeface="Aptos Narrow" panose="020B0004020202020204" pitchFamily="34" charset="0"/>
              </a:rPr>
              <a:t>Total Revenue (monthly).</a:t>
            </a:r>
          </a:p>
          <a:p>
            <a:pPr marL="285750" indent="-285750">
              <a:buFont typeface="+mj-lt"/>
              <a:buAutoNum type="arabicPeriod"/>
            </a:pPr>
            <a:r>
              <a:rPr lang="en-GB" sz="2800" dirty="0">
                <a:latin typeface="Aptos Narrow" panose="020B0004020202020204" pitchFamily="34" charset="0"/>
              </a:rPr>
              <a:t>Revenue Growth % (MoM ).</a:t>
            </a:r>
          </a:p>
          <a:p>
            <a:pPr marL="285750" indent="-285750">
              <a:buFont typeface="+mj-lt"/>
              <a:buAutoNum type="arabicPeriod"/>
            </a:pPr>
            <a:r>
              <a:rPr lang="en-GB" sz="2800" dirty="0">
                <a:latin typeface="Aptos Narrow" panose="020B0004020202020204" pitchFamily="34" charset="0"/>
              </a:rPr>
              <a:t>Repeat Purchase Rate vs One-time Buyer.</a:t>
            </a:r>
          </a:p>
          <a:p>
            <a:pPr marL="285750" indent="-285750">
              <a:buFont typeface="+mj-lt"/>
              <a:buAutoNum type="arabicPeriod"/>
            </a:pPr>
            <a:r>
              <a:rPr lang="en-GB" sz="2800" dirty="0">
                <a:latin typeface="Aptos Narrow" panose="020B0004020202020204" pitchFamily="34" charset="0"/>
              </a:rPr>
              <a:t>Average Order Value (AOV).</a:t>
            </a:r>
          </a:p>
          <a:p>
            <a:pPr marL="285750" indent="-285750">
              <a:buFont typeface="+mj-lt"/>
              <a:buAutoNum type="arabicPeriod"/>
            </a:pPr>
            <a:r>
              <a:rPr lang="en-GB" sz="2800" dirty="0">
                <a:latin typeface="Aptos Narrow" panose="020B0004020202020204" pitchFamily="34" charset="0"/>
              </a:rPr>
              <a:t>Retention Rate/Churn Rate.</a:t>
            </a:r>
          </a:p>
          <a:p>
            <a:pPr marL="285750" indent="-285750">
              <a:buFont typeface="+mj-lt"/>
              <a:buAutoNum type="arabicPeriod"/>
            </a:pPr>
            <a:r>
              <a:rPr lang="en-GB" sz="2800" dirty="0">
                <a:latin typeface="Aptos Narrow" panose="020B0004020202020204" pitchFamily="34" charset="0"/>
              </a:rPr>
              <a:t>RFM‑based customer segments</a:t>
            </a:r>
          </a:p>
          <a:p>
            <a:pPr marL="285750" indent="-285750">
              <a:buFont typeface="+mj-lt"/>
              <a:buAutoNum type="arabicPeriod"/>
            </a:pPr>
            <a:r>
              <a:rPr lang="en-GB" sz="2800" dirty="0">
                <a:latin typeface="Aptos Narrow" panose="020B0004020202020204" pitchFamily="34" charset="0"/>
              </a:rPr>
              <a:t>Campaign / Channel performance </a:t>
            </a:r>
          </a:p>
          <a:p>
            <a:pPr marL="0" indent="0">
              <a:buNone/>
            </a:pPr>
            <a:endParaRPr lang="en-PK" sz="2800" dirty="0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365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BC2A9-F2C4-9168-E632-A49667E31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548" y="731520"/>
            <a:ext cx="6323012" cy="828040"/>
          </a:xfrm>
        </p:spPr>
        <p:txBody>
          <a:bodyPr>
            <a:noAutofit/>
          </a:bodyPr>
          <a:lstStyle/>
          <a:p>
            <a:r>
              <a:rPr lang="en-GB" sz="4400" b="1" dirty="0"/>
              <a:t>Exploratory Data Analysis</a:t>
            </a:r>
            <a:endParaRPr lang="en-PK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7C289-8977-EF66-4008-5439931B0D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7068" y="1738630"/>
            <a:ext cx="6719252" cy="420116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GB" sz="2800" dirty="0"/>
              <a:t>“The dataset covers 1,000 customers across 6 European countries, of which 580 made at least one purchase over a 3‑month period in 2025. It includes around 500 products across 5 categories, with original prices up to 85.9, and captures marketing activity across 5 channels and 7 campaigns, each running between 6 and 11 days.”</a:t>
            </a:r>
            <a:endParaRPr lang="en-PK"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F12E9E-9D37-ADC4-664F-647626EC9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7642" y="1315720"/>
            <a:ext cx="3981450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563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33F36C-0FB6-84A0-7309-3EB4B8A81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721360"/>
            <a:ext cx="10515600" cy="833119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Which month performed best, and why?</a:t>
            </a:r>
            <a:br>
              <a:rPr lang="en-GB" b="1" dirty="0"/>
            </a:br>
            <a:endParaRPr lang="en-PK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5AF946-A45C-2595-E90D-3B3B7930D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" y="1422399"/>
            <a:ext cx="11186160" cy="3027681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GB" sz="2200" b="0" i="0" dirty="0">
                <a:effectLst/>
                <a:latin typeface="pplxSerif"/>
              </a:rPr>
              <a:t>May is the best‑performing month, with revenue growing about 6% vs April and both total revenue and number of orders higher than in April and June.</a:t>
            </a:r>
          </a:p>
          <a:p>
            <a:pPr marL="0" indent="0" algn="just">
              <a:buNone/>
            </a:pPr>
            <a:endParaRPr lang="en-GB" sz="2200" b="0" i="0" dirty="0">
              <a:effectLst/>
              <a:latin typeface="pplxSerif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2200" b="0" i="0" dirty="0">
                <a:effectLst/>
                <a:latin typeface="pplxSerif"/>
              </a:rPr>
              <a:t>This uplift is driven by T‑shirts, Dresses and Shoes contributing roughly 64% of overall revenue, plus strong demand from Germany (23.5%) and France (22.5%) mainly via E‑commerce (53.8%) and the mobile app (46.2%).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GB" sz="1000" b="0" i="0" dirty="0">
              <a:effectLst/>
              <a:latin typeface="pplxSerif"/>
            </a:endParaRPr>
          </a:p>
          <a:p>
            <a:pPr marL="0" indent="0" algn="just">
              <a:buNone/>
            </a:pPr>
            <a:r>
              <a:rPr lang="en-GB" sz="2200" b="0" i="0" dirty="0">
                <a:effectLst/>
                <a:latin typeface="pplxSerif"/>
              </a:rPr>
              <a:t>This combination of strong core categories, core markets and core channels explains why May clearly outperforms April and June.</a:t>
            </a:r>
            <a:endParaRPr lang="en-PK" sz="2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EB226E-1BC7-FD1C-D87E-D773AD208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77" y="4741193"/>
            <a:ext cx="11186160" cy="1713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82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715E0-5185-5E8E-AF86-3FBC5658B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Why does revenue drop so much in June?</a:t>
            </a:r>
            <a:br>
              <a:rPr lang="en-GB" b="1" dirty="0"/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058D9-4BBD-DA68-54F6-D487C06C5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828800"/>
            <a:ext cx="10058400" cy="4805680"/>
          </a:xfrm>
        </p:spPr>
        <p:txBody>
          <a:bodyPr>
            <a:normAutofit/>
          </a:bodyPr>
          <a:lstStyle/>
          <a:p>
            <a:pPr algn="l"/>
            <a:r>
              <a:rPr lang="en-GB" b="0" i="0" dirty="0">
                <a:effectLst/>
                <a:latin typeface="pplxSerif"/>
              </a:rPr>
              <a:t>In June, total revenue drops sharply, by around 65.5% compared to May, even though some areas still grow. Shoes become the top category in June and France’s share increases from 22.5% to 25.3%, while the App channel’s share rises from 46.2% to about 47.5%.</a:t>
            </a:r>
          </a:p>
          <a:p>
            <a:pPr algn="l"/>
            <a:endParaRPr lang="en-GB" b="0" i="0" dirty="0">
              <a:effectLst/>
              <a:latin typeface="pplxSerif"/>
            </a:endParaRPr>
          </a:p>
          <a:p>
            <a:pPr algn="l"/>
            <a:r>
              <a:rPr lang="en-GB" b="0" i="0" dirty="0">
                <a:effectLst/>
                <a:latin typeface="pplxSerif"/>
              </a:rPr>
              <a:t>However, these gains are not enough to offset the decline in our largest revenue drivers. T‑shirt sales, our top category overall, fall in June, Germany’s revenue share slips from 23.5% to 22.7%, and E‑commerce, our main channel, loses share from 53.8% to 52.5%. </a:t>
            </a:r>
          </a:p>
          <a:p>
            <a:pPr algn="l"/>
            <a:endParaRPr lang="en-GB" b="0" i="0" dirty="0">
              <a:effectLst/>
              <a:latin typeface="pplxSerif"/>
            </a:endParaRPr>
          </a:p>
          <a:p>
            <a:pPr algn="l"/>
            <a:r>
              <a:rPr lang="en-GB" b="0" i="0" dirty="0">
                <a:effectLst/>
                <a:latin typeface="pplxSerif"/>
              </a:rPr>
              <a:t>Moreover, no campaigns ran in June, and the 30% May discount was not repeated, which may have reduced sales.</a:t>
            </a:r>
          </a:p>
          <a:p>
            <a:pPr algn="l"/>
            <a:endParaRPr lang="en-GB" b="0" i="0" dirty="0">
              <a:effectLst/>
              <a:latin typeface="pplxSerif"/>
            </a:endParaRPr>
          </a:p>
          <a:p>
            <a:pPr algn="l"/>
            <a:r>
              <a:rPr lang="en-GB" b="0" i="0" dirty="0">
                <a:effectLst/>
                <a:latin typeface="pplxSerif"/>
              </a:rPr>
              <a:t>Because the biggest drops hit the biggest contributors, overall revenue declines heavily despite growth in smaller pockets.</a:t>
            </a:r>
          </a:p>
          <a:p>
            <a:endParaRPr lang="en-PK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263040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929B3-366A-B33F-D483-7A3A06169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320" y="469582"/>
            <a:ext cx="10215880" cy="1325563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How many customers are actually loyal?</a:t>
            </a:r>
            <a:endParaRPr lang="en-P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CF60A-1DBD-6452-0B95-BE36A6148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600" y="2302119"/>
            <a:ext cx="10576560" cy="2533015"/>
          </a:xfrm>
        </p:spPr>
        <p:txBody>
          <a:bodyPr>
            <a:normAutofit/>
          </a:bodyPr>
          <a:lstStyle/>
          <a:p>
            <a:pPr algn="just"/>
            <a:r>
              <a:rPr lang="en-GB" b="0" i="0" dirty="0">
                <a:effectLst/>
                <a:latin typeface="pplxSerif"/>
              </a:rPr>
              <a:t>Out of 1,000 total customers, only 580 made at least one purchase, and just 41% of purchasing customers are repeat buyers while 59% buy only once. </a:t>
            </a:r>
          </a:p>
          <a:p>
            <a:pPr marL="0" indent="0" algn="just">
              <a:buNone/>
            </a:pPr>
            <a:endParaRPr lang="en-GB" dirty="0">
              <a:latin typeface="pplxSerif"/>
            </a:endParaRPr>
          </a:p>
          <a:p>
            <a:pPr marL="0" indent="0" algn="just">
              <a:buNone/>
            </a:pPr>
            <a:r>
              <a:rPr lang="en-GB" b="0" i="0" dirty="0">
                <a:effectLst/>
                <a:latin typeface="pplxSerif"/>
              </a:rPr>
              <a:t>This shows that more than half of the acquired customers do not return, so there is a big opportunity to improve loyalty and get more value from existing acquisition spend.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9FE268-E3AC-AD4B-CE00-13276A8E3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3971" y="4621774"/>
            <a:ext cx="5235818" cy="1291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107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18F45-1A5D-EE0B-8B34-47AA6590C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760" y="741045"/>
            <a:ext cx="10734040" cy="762635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What is our overall retention and churn situation?</a:t>
            </a:r>
            <a:endParaRPr lang="en-P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1B912-9E61-E8C4-AA70-117F3AED8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280" y="2336683"/>
            <a:ext cx="5857240" cy="3210677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lnSpc>
                <a:spcPct val="100000"/>
              </a:lnSpc>
              <a:spcBef>
                <a:spcPts val="1000"/>
              </a:spcBef>
              <a:buNone/>
            </a:pPr>
            <a:r>
              <a:rPr lang="en-GB" sz="2800" dirty="0">
                <a:solidFill>
                  <a:schemeClr val="accent1">
                    <a:lumMod val="75000"/>
                  </a:schemeClr>
                </a:solidFill>
              </a:rPr>
              <a:t>Among all purchasing customers, 22% are Active, 47% are At‑risk and 30% are already Churned. </a:t>
            </a:r>
          </a:p>
          <a:p>
            <a:pPr marL="0" indent="0" algn="just">
              <a:lnSpc>
                <a:spcPct val="100000"/>
              </a:lnSpc>
              <a:spcBef>
                <a:spcPts val="1000"/>
              </a:spcBef>
              <a:buNone/>
            </a:pPr>
            <a:endParaRPr lang="en-GB" sz="28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 algn="just">
              <a:lnSpc>
                <a:spcPct val="100000"/>
              </a:lnSpc>
              <a:spcBef>
                <a:spcPts val="1000"/>
              </a:spcBef>
              <a:buNone/>
            </a:pPr>
            <a:r>
              <a:rPr lang="en-GB" sz="2800" dirty="0">
                <a:solidFill>
                  <a:schemeClr val="accent1">
                    <a:lumMod val="75000"/>
                  </a:schemeClr>
                </a:solidFill>
              </a:rPr>
              <a:t>This means almost half the relationship base is close to churning and one‑third is lost, so focused retention and win‑back are critical to protect future revenue.</a:t>
            </a:r>
            <a:endParaRPr lang="en-PK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8ADF62-2C9F-5E04-05F2-8E8E1BE93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977" y="2336682"/>
            <a:ext cx="4031931" cy="1828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342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67779-B46B-8E8D-8742-49A064CB3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863601"/>
            <a:ext cx="10708640" cy="731519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Who are our high‑value customers?</a:t>
            </a:r>
            <a:endParaRPr lang="en-P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63394-D628-0409-FC1B-0B27CA378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2232340"/>
            <a:ext cx="10515600" cy="4422460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GB" sz="2400" b="0" i="0" dirty="0">
                <a:effectLst/>
                <a:latin typeface="pplxSerif"/>
              </a:rPr>
              <a:t>RFM segmentation identifies </a:t>
            </a:r>
            <a:r>
              <a:rPr lang="en-GB" sz="2400" b="1" i="0" dirty="0">
                <a:effectLst/>
                <a:latin typeface="pplxSerif"/>
              </a:rPr>
              <a:t>90 </a:t>
            </a:r>
            <a:r>
              <a:rPr lang="en-GB" sz="2400" b="1" i="0" dirty="0" err="1">
                <a:effectLst/>
                <a:latin typeface="pplxSerif"/>
              </a:rPr>
              <a:t>High_value</a:t>
            </a:r>
            <a:r>
              <a:rPr lang="en-GB" sz="2400" b="1" i="0" dirty="0">
                <a:effectLst/>
                <a:latin typeface="pplxSerif"/>
              </a:rPr>
              <a:t> customers </a:t>
            </a:r>
            <a:r>
              <a:rPr lang="en-GB" sz="2400" b="0" i="0" dirty="0">
                <a:effectLst/>
                <a:latin typeface="pplxSerif"/>
              </a:rPr>
              <a:t>and </a:t>
            </a:r>
            <a:r>
              <a:rPr lang="en-GB" sz="2400" b="1" i="0" dirty="0">
                <a:effectLst/>
                <a:latin typeface="pplxSerif"/>
              </a:rPr>
              <a:t>424 Medium customers</a:t>
            </a:r>
            <a:r>
              <a:rPr lang="en-GB" sz="2400" b="0" i="0" dirty="0">
                <a:effectLst/>
                <a:latin typeface="pplxSerif"/>
              </a:rPr>
              <a:t>, and within </a:t>
            </a:r>
            <a:r>
              <a:rPr lang="en-GB" sz="2400" b="0" i="0" dirty="0" err="1">
                <a:effectLst/>
                <a:latin typeface="pplxSerif"/>
              </a:rPr>
              <a:t>High_value</a:t>
            </a:r>
            <a:r>
              <a:rPr lang="en-GB" sz="2400" b="0" i="0" dirty="0">
                <a:effectLst/>
                <a:latin typeface="pplxSerif"/>
              </a:rPr>
              <a:t>, 60 are Active while 30 are At‑risk (all last purchased in May).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GB" sz="2400" b="0" i="0" dirty="0">
              <a:effectLst/>
              <a:latin typeface="pplxSerif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2400" b="0" i="0" dirty="0">
                <a:effectLst/>
                <a:latin typeface="pplxSerif"/>
              </a:rPr>
              <a:t>A significant share of our most valuable customers is therefore slipping into risk, making them a top‑priority target for win‑back campaigns, while Active </a:t>
            </a:r>
            <a:r>
              <a:rPr lang="en-GB" sz="2400" b="0" i="0" dirty="0" err="1">
                <a:effectLst/>
                <a:latin typeface="pplxSerif"/>
              </a:rPr>
              <a:t>High_value</a:t>
            </a:r>
            <a:r>
              <a:rPr lang="en-GB" sz="2400" b="0" i="0" dirty="0">
                <a:effectLst/>
                <a:latin typeface="pplxSerif"/>
              </a:rPr>
              <a:t> customers should receive ongoing loyalty treatment to protect core revenue.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GB" sz="2400" b="0" i="0" dirty="0">
              <a:effectLst/>
              <a:latin typeface="pplxSerif"/>
            </a:endParaRPr>
          </a:p>
        </p:txBody>
      </p:sp>
    </p:spTree>
    <p:extLst>
      <p:ext uri="{BB962C8B-B14F-4D97-AF65-F5344CB8AC3E}">
        <p14:creationId xmlns:p14="http://schemas.microsoft.com/office/powerpoint/2010/main" val="251413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0064B-BD1E-BFEC-B369-2C9DF079E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120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How can we use the Medium segment to drive future growth?</a:t>
            </a:r>
            <a:endParaRPr lang="en-P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04CB0-FB74-35AF-B761-122DCF02C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94585"/>
            <a:ext cx="10515600" cy="2756535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00000"/>
              </a:lnSpc>
              <a:spcBef>
                <a:spcPts val="1000"/>
              </a:spcBef>
              <a:buNone/>
            </a:pPr>
            <a:r>
              <a:rPr lang="en-GB" sz="2800" dirty="0">
                <a:solidFill>
                  <a:schemeClr val="accent1">
                    <a:lumMod val="75000"/>
                  </a:schemeClr>
                </a:solidFill>
                <a:latin typeface="Aptos Narrow" panose="020B0004020202020204" pitchFamily="34" charset="0"/>
              </a:rPr>
              <a:t>The Medium segment is our largest group, with 424 customers, including 68 who are still Active. </a:t>
            </a:r>
          </a:p>
          <a:p>
            <a:pPr marL="0" indent="0" algn="just">
              <a:lnSpc>
                <a:spcPct val="100000"/>
              </a:lnSpc>
              <a:spcBef>
                <a:spcPts val="1000"/>
              </a:spcBef>
              <a:buNone/>
            </a:pPr>
            <a:endParaRPr lang="en-GB" sz="2800" dirty="0">
              <a:solidFill>
                <a:schemeClr val="accent1">
                  <a:lumMod val="75000"/>
                </a:schemeClr>
              </a:solidFill>
              <a:latin typeface="Aptos Narrow" panose="020B0004020202020204" pitchFamily="34" charset="0"/>
            </a:endParaRPr>
          </a:p>
          <a:p>
            <a:pPr marL="0" indent="0" algn="just">
              <a:lnSpc>
                <a:spcPct val="100000"/>
              </a:lnSpc>
              <a:spcBef>
                <a:spcPts val="1000"/>
              </a:spcBef>
              <a:buNone/>
            </a:pPr>
            <a:r>
              <a:rPr lang="en-GB" sz="2800" dirty="0">
                <a:solidFill>
                  <a:schemeClr val="accent1">
                    <a:lumMod val="75000"/>
                  </a:schemeClr>
                </a:solidFill>
                <a:latin typeface="Aptos Narrow" panose="020B0004020202020204" pitchFamily="34" charset="0"/>
              </a:rPr>
              <a:t>These moderately engaged buyers are a strong growth lever and should be nudged with light, personalized cross‑sell and upsell offers, especially before any of them slip into the At‑risk bucket.</a:t>
            </a:r>
            <a:endParaRPr lang="en-PK" sz="2800" dirty="0">
              <a:solidFill>
                <a:schemeClr val="accent1">
                  <a:lumMod val="75000"/>
                </a:schemeClr>
              </a:solidFill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30791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1CC1D-D60C-7595-A1E8-4E086D78D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36245"/>
            <a:ext cx="10952480" cy="793115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How effective were our campaigns?</a:t>
            </a:r>
            <a:endParaRPr lang="en-P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5B0B6-2CCE-82C8-A6DE-91E70DF3E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0" y="3256280"/>
            <a:ext cx="5384800" cy="197612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GB" sz="2400" b="1" dirty="0">
                <a:solidFill>
                  <a:schemeClr val="accent1">
                    <a:lumMod val="75000"/>
                  </a:schemeClr>
                </a:solidFill>
                <a:latin typeface="Aptos Narrow" panose="020B0004020202020204" pitchFamily="34" charset="0"/>
              </a:rPr>
              <a:t>RECOMMENDATION:</a:t>
            </a:r>
          </a:p>
          <a:p>
            <a:pPr marL="0" indent="0" algn="just">
              <a:buNone/>
            </a:pPr>
            <a:r>
              <a:rPr lang="en-GB" sz="2200" dirty="0">
                <a:latin typeface="pplxSerif"/>
              </a:rPr>
              <a:t>Relying on blanket 30% discounts risks over‑discounting; instead, campaign strategy should prioritize focused offers on High_value and Medium segments, improve timing and channel selection, and test smaller, smarter discounts rather than repeating broad 30% cuts.</a:t>
            </a:r>
            <a:endParaRPr lang="en-PK" sz="2200" dirty="0">
              <a:latin typeface="pplxSerif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75C44F-5326-F4A9-66D3-DEEEA55718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81" r="18145"/>
          <a:stretch/>
        </p:blipFill>
        <p:spPr>
          <a:xfrm>
            <a:off x="523240" y="3285808"/>
            <a:ext cx="5572760" cy="29806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CFD37F-32C6-2855-968B-02505502A07A}"/>
              </a:ext>
            </a:extLst>
          </p:cNvPr>
          <p:cNvSpPr txBox="1"/>
          <p:nvPr/>
        </p:nvSpPr>
        <p:spPr>
          <a:xfrm>
            <a:off x="406400" y="1499552"/>
            <a:ext cx="1095248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b="0" i="0" dirty="0">
                <a:effectLst/>
                <a:latin typeface="pplxSerif"/>
              </a:rPr>
              <a:t>After further investigation of campaign performance, it can be seen that only the May </a:t>
            </a:r>
            <a:r>
              <a:rPr lang="en-GB" sz="2000" b="1" i="0" dirty="0">
                <a:effectLst/>
                <a:latin typeface="pplxSerif"/>
              </a:rPr>
              <a:t>Mid‑Season Clearance</a:t>
            </a:r>
            <a:r>
              <a:rPr lang="en-GB" sz="2000" b="0" i="0" dirty="0">
                <a:effectLst/>
                <a:latin typeface="pplxSerif"/>
              </a:rPr>
              <a:t> campaign actually generated incremental campaign‑day sales</a:t>
            </a:r>
            <a:r>
              <a:rPr lang="en-GB" sz="2000" dirty="0">
                <a:latin typeface="pplxSerif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000" b="0" i="0" dirty="0">
              <a:effectLst/>
              <a:latin typeface="pplxSerif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b="0" i="0" dirty="0">
                <a:effectLst/>
                <a:latin typeface="pplxSerif"/>
              </a:rPr>
              <a:t>While the April “Easter Promotion” and June “Early Summer Deal/June Price Drop” ran with </a:t>
            </a:r>
            <a:r>
              <a:rPr lang="en-GB" sz="2000" b="1" i="0" dirty="0">
                <a:effectLst/>
                <a:latin typeface="pplxSerif"/>
              </a:rPr>
              <a:t>no</a:t>
            </a:r>
            <a:r>
              <a:rPr lang="en-GB" sz="2000" b="0" i="0" dirty="0">
                <a:effectLst/>
                <a:latin typeface="pplxSerif"/>
              </a:rPr>
              <a:t> recorded campaign‑day sales at all.</a:t>
            </a:r>
          </a:p>
        </p:txBody>
      </p:sp>
    </p:spTree>
    <p:extLst>
      <p:ext uri="{BB962C8B-B14F-4D97-AF65-F5344CB8AC3E}">
        <p14:creationId xmlns:p14="http://schemas.microsoft.com/office/powerpoint/2010/main" val="1590061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118FA-5A8B-D464-DD3F-8785270D0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80" y="59880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Which countries should be prioritized for future growth?</a:t>
            </a:r>
            <a:endParaRPr lang="en-P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A88EF-77B3-E2E8-BFC1-FC697361F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080" y="2211706"/>
            <a:ext cx="10515600" cy="293941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2400" dirty="0">
                <a:latin typeface="pplxSerif"/>
              </a:rPr>
              <a:t>O</a:t>
            </a:r>
            <a:r>
              <a:rPr lang="en-GB" sz="2400" b="0" i="0" dirty="0">
                <a:effectLst/>
                <a:latin typeface="pplxSerif"/>
              </a:rPr>
              <a:t>verall sales and revenue are heavily concentrated in </a:t>
            </a:r>
            <a:r>
              <a:rPr lang="en-GB" sz="2400" b="1" i="0" dirty="0">
                <a:effectLst/>
                <a:latin typeface="pplxSerif"/>
              </a:rPr>
              <a:t>France</a:t>
            </a:r>
            <a:r>
              <a:rPr lang="en-GB" sz="2400" b="0" i="0" dirty="0">
                <a:effectLst/>
                <a:latin typeface="pplxSerif"/>
              </a:rPr>
              <a:t> and </a:t>
            </a:r>
            <a:r>
              <a:rPr lang="en-GB" sz="2400" b="1" i="0" dirty="0">
                <a:effectLst/>
                <a:latin typeface="pplxSerif"/>
              </a:rPr>
              <a:t>Germany</a:t>
            </a:r>
            <a:r>
              <a:rPr lang="en-GB" sz="2400" b="0" i="0" dirty="0">
                <a:effectLst/>
                <a:latin typeface="pplxSerif"/>
              </a:rPr>
              <a:t>, while all six countries do have High_value customers but Spain has the lowest High_value base.</a:t>
            </a:r>
          </a:p>
          <a:p>
            <a:pPr marL="0" indent="0" algn="just">
              <a:buNone/>
            </a:pPr>
            <a:br>
              <a:rPr lang="en-GB" sz="2400" b="0" i="0" dirty="0">
                <a:effectLst/>
                <a:latin typeface="pplxSerif"/>
              </a:rPr>
            </a:br>
            <a:r>
              <a:rPr lang="en-GB" sz="2400" b="0" i="0" dirty="0">
                <a:effectLst/>
                <a:latin typeface="pplxSerif"/>
              </a:rPr>
              <a:t>For future growth, France and Germany should remain the primary focus markets, while Spain should be treated as a longer‑term build market with smaller, test‑and‑learn initiatives to gradually grow its High_value and Medium customers without over‑investing too early.</a:t>
            </a:r>
          </a:p>
          <a:p>
            <a:pPr marL="0" indent="0" algn="just">
              <a:buNone/>
            </a:pPr>
            <a:endParaRPr lang="en-PK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A99C97-0B37-BA4C-C2D1-08732CE04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128" y="5316538"/>
            <a:ext cx="4067743" cy="131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8335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11E33-9D9C-4A65-0C3C-B0677C51F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900" b="1" dirty="0"/>
              <a:t>Make marketing spend more efficient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9140A-BE7A-2D13-E430-3F78C134B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360" y="2302541"/>
            <a:ext cx="4562307" cy="389128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GB" sz="2400" b="0" i="0" dirty="0">
                <a:effectLst/>
                <a:latin typeface="pplxSerif"/>
              </a:rPr>
              <a:t>To make marketing spend more efficient, budget should be concentrated on our strongest countries (especially </a:t>
            </a:r>
            <a:r>
              <a:rPr lang="en-GB" sz="2600" b="1" dirty="0">
                <a:solidFill>
                  <a:schemeClr val="accent1">
                    <a:lumMod val="75000"/>
                  </a:schemeClr>
                </a:solidFill>
                <a:latin typeface="Aptos Narrow" panose="020B0004020202020204" pitchFamily="34" charset="0"/>
              </a:rPr>
              <a:t>France and Germany</a:t>
            </a:r>
            <a:r>
              <a:rPr lang="en-GB" sz="2400" b="0" i="0" dirty="0">
                <a:effectLst/>
                <a:latin typeface="pplxSerif"/>
              </a:rPr>
              <a:t>), core fashion categories such as </a:t>
            </a:r>
            <a:r>
              <a:rPr lang="en-GB" sz="2600" b="1" dirty="0">
                <a:solidFill>
                  <a:schemeClr val="accent1">
                    <a:lumMod val="75000"/>
                  </a:schemeClr>
                </a:solidFill>
                <a:latin typeface="Aptos Narrow" panose="020B0004020202020204" pitchFamily="34" charset="0"/>
              </a:rPr>
              <a:t>T‑shirts, Dresses and Shoes </a:t>
            </a:r>
            <a:r>
              <a:rPr lang="en-GB" sz="2400" b="0" i="0" dirty="0">
                <a:effectLst/>
                <a:latin typeface="pplxSerif"/>
              </a:rPr>
              <a:t>(which together contribute about 64% of overall revenue), and they primarily purchase through the </a:t>
            </a:r>
            <a:r>
              <a:rPr lang="en-GB" sz="2600" b="1" dirty="0">
                <a:solidFill>
                  <a:schemeClr val="accent1">
                    <a:lumMod val="75000"/>
                  </a:schemeClr>
                </a:solidFill>
                <a:latin typeface="Aptos Narrow" panose="020B0004020202020204" pitchFamily="34" charset="0"/>
              </a:rPr>
              <a:t>Mobile App </a:t>
            </a:r>
            <a:r>
              <a:rPr lang="en-GB" sz="2400" i="0" dirty="0">
                <a:effectLst/>
                <a:latin typeface="pplxSerif"/>
              </a:rPr>
              <a:t>and </a:t>
            </a:r>
            <a:r>
              <a:rPr lang="en-GB" sz="2600" b="1" dirty="0">
                <a:solidFill>
                  <a:schemeClr val="accent1">
                    <a:lumMod val="75000"/>
                  </a:schemeClr>
                </a:solidFill>
                <a:latin typeface="Aptos Narrow" panose="020B0004020202020204" pitchFamily="34" charset="0"/>
              </a:rPr>
              <a:t>Mid-Season Clearance Campaign</a:t>
            </a:r>
            <a:r>
              <a:rPr lang="en-GB" sz="2400" b="0" i="0" dirty="0">
                <a:effectLst/>
                <a:latin typeface="pplxSerif"/>
              </a:rPr>
              <a:t>, so these categories and channels should be the main focus for loyalty offers and win‑back actions targeting this segment.</a:t>
            </a:r>
          </a:p>
          <a:p>
            <a:pPr marL="0" indent="0" algn="just">
              <a:buNone/>
            </a:pPr>
            <a:endParaRPr lang="en-PK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95DE33-CAF7-5752-B7E2-A5E6F247E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0593" y="4511398"/>
            <a:ext cx="5694353" cy="16824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761A9C-24F1-B8C2-303C-F01B94CF4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5022" y="2110304"/>
            <a:ext cx="5759925" cy="1981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6308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6542</TotalTime>
  <Words>1221</Words>
  <Application>Microsoft Office PowerPoint</Application>
  <PresentationFormat>Widescreen</PresentationFormat>
  <Paragraphs>71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Aptos Display</vt:lpstr>
      <vt:lpstr>Aptos Narrow</vt:lpstr>
      <vt:lpstr>Arial</vt:lpstr>
      <vt:lpstr>pplxSerif</vt:lpstr>
      <vt:lpstr>Rockwell</vt:lpstr>
      <vt:lpstr>Rockwell Condensed</vt:lpstr>
      <vt:lpstr>Wingdings</vt:lpstr>
      <vt:lpstr>Wood Type</vt:lpstr>
      <vt:lpstr>Retail &amp; Marketing for Customer Segmentation</vt:lpstr>
      <vt:lpstr>Business Problem </vt:lpstr>
      <vt:lpstr>Problems</vt:lpstr>
      <vt:lpstr>Goals</vt:lpstr>
      <vt:lpstr>KPI’S (Key Performance Indicators )</vt:lpstr>
      <vt:lpstr>Exploratory Data Analysis</vt:lpstr>
      <vt:lpstr>Which month performed best, and why? </vt:lpstr>
      <vt:lpstr>Why does revenue drop so much in June? </vt:lpstr>
      <vt:lpstr>How many customers are actually loyal?</vt:lpstr>
      <vt:lpstr>What is our overall retention and churn situation?</vt:lpstr>
      <vt:lpstr>Who are our high‑value customers?</vt:lpstr>
      <vt:lpstr>How can we use the Medium segment to drive future growth?</vt:lpstr>
      <vt:lpstr>How effective were our campaigns?</vt:lpstr>
      <vt:lpstr>Which countries should be prioritized for future growth?</vt:lpstr>
      <vt:lpstr>Make marketing spend more efficient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23-NTU-CS-FL-1206</dc:creator>
  <cp:lastModifiedBy>23-NTU-CS-FL-1206</cp:lastModifiedBy>
  <cp:revision>39</cp:revision>
  <dcterms:created xsi:type="dcterms:W3CDTF">2026-03-08T17:28:33Z</dcterms:created>
  <dcterms:modified xsi:type="dcterms:W3CDTF">2026-03-15T12:38:08Z</dcterms:modified>
</cp:coreProperties>
</file>